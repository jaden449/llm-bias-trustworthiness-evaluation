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72" r:id="rId5"/>
    <p:sldMasterId id="2147483670" r:id="rId6"/>
    <p:sldMasterId id="2147483687" r:id="rId7"/>
  </p:sldMasterIdLst>
  <p:notesMasterIdLst>
    <p:notesMasterId r:id="rId19"/>
  </p:notesMasterIdLst>
  <p:handoutMasterIdLst>
    <p:handoutMasterId r:id="rId20"/>
  </p:handoutMasterIdLst>
  <p:sldIdLst>
    <p:sldId id="332" r:id="rId8"/>
    <p:sldId id="319" r:id="rId9"/>
    <p:sldId id="355" r:id="rId10"/>
    <p:sldId id="356" r:id="rId11"/>
    <p:sldId id="357" r:id="rId12"/>
    <p:sldId id="359" r:id="rId13"/>
    <p:sldId id="362" r:id="rId14"/>
    <p:sldId id="302" r:id="rId15"/>
    <p:sldId id="363" r:id="rId16"/>
    <p:sldId id="360" r:id="rId17"/>
    <p:sldId id="361" r:id="rId1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5263"/>
    <a:srgbClr val="E0CC94"/>
    <a:srgbClr val="70B6AD"/>
    <a:srgbClr val="1448FF"/>
    <a:srgbClr val="140F50"/>
    <a:srgbClr val="EFF0F0"/>
    <a:srgbClr val="28404F"/>
    <a:srgbClr val="4F81B5"/>
    <a:srgbClr val="71848F"/>
    <a:srgbClr val="054A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11" autoAdjust="0"/>
    <p:restoredTop sz="95310" autoAdjust="0"/>
  </p:normalViewPr>
  <p:slideViewPr>
    <p:cSldViewPr snapToGrid="0" snapToObjects="1">
      <p:cViewPr varScale="1">
        <p:scale>
          <a:sx n="116" d="100"/>
          <a:sy n="116" d="100"/>
        </p:scale>
        <p:origin x="883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203" d="100"/>
          <a:sy n="203" d="100"/>
        </p:scale>
        <p:origin x="7656" y="1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F6F4C1-4114-4918-8993-473D0CD5DC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17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EDB437F-59FE-4A6C-A802-8DC8214269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43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67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62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A8EDF12-1C19-E62E-94E0-8974D4130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Text-only slide click to add heading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416243F-3EBA-00D8-66EB-F15C43FE4D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65400"/>
            <a:ext cx="6786563" cy="29670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EAAFC098-C02F-9AF6-D335-ABF4DC8E2D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0521A-A469-4C8C-CC18-D141A4A187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1" y="858837"/>
            <a:ext cx="4021494" cy="36198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86EF1-5F6B-51A0-1127-7CEF29CDB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8845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 + Image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86EF1-5F6B-51A0-1127-7CEF29CDB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59F870-C9DC-B994-D416-F8036DDDE93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1644" y="858839"/>
            <a:ext cx="4021494" cy="3619500"/>
          </a:xfrm>
        </p:spPr>
        <p:txBody>
          <a:bodyPr/>
          <a:lstStyle/>
          <a:p>
            <a:pPr lvl="0"/>
            <a:r>
              <a:rPr lang="en-GB" dirty="0"/>
              <a:t>Click to add image/chart/diagram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6564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98611-05E5-3C58-6976-C402E44F5C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96C71A2-DB3B-7E3C-CEB1-309123E104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907" y="1212980"/>
            <a:ext cx="1762179" cy="1902136"/>
          </a:xfrm>
          <a:prstGeom prst="rect">
            <a:avLst/>
          </a:prstGeom>
        </p:spPr>
      </p:pic>
      <p:sp>
        <p:nvSpPr>
          <p:cNvPr id="6" name="Title 13">
            <a:extLst>
              <a:ext uri="{FF2B5EF4-FFF2-40B4-BE49-F238E27FC236}">
                <a16:creationId xmlns:a16="http://schemas.microsoft.com/office/drawing/2014/main" id="{ED555E62-9954-370D-93EE-6E25E80F0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18" y="2298215"/>
            <a:ext cx="5896591" cy="706243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800" spc="30" baseline="0"/>
            </a:lvl1pPr>
          </a:lstStyle>
          <a:p>
            <a:r>
              <a:rPr lang="en-GB" dirty="0"/>
              <a:t>Divider title here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0B95D9-19B0-A38C-196A-C9FAF09E3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708" y="1322516"/>
            <a:ext cx="953682" cy="81250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800" b="1" i="0" spc="-100" baseline="0">
                <a:latin typeface="Franklin Gothic Demi Cond" panose="020B0603020102020204" pitchFamily="34" charset="0"/>
              </a:defRPr>
            </a:lvl1pPr>
          </a:lstStyle>
          <a:p>
            <a:pPr lvl="0"/>
            <a:r>
              <a:rPr lang="en-GB" kern="0" dirty="0"/>
              <a:t>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4876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F69B99A2-FCDD-5902-BFD9-294E7BE4E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661" y="827479"/>
            <a:ext cx="8038563" cy="3283272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400" spc="30" baseline="0"/>
            </a:lvl1pPr>
          </a:lstStyle>
          <a:p>
            <a:r>
              <a:rPr lang="en-GB" dirty="0"/>
              <a:t>Large statement – as appropriate in </a:t>
            </a:r>
            <a:br>
              <a:rPr lang="en-GB" dirty="0"/>
            </a:br>
            <a:r>
              <a:rPr lang="en-GB" dirty="0"/>
              <a:t>key statements and quotes, a key</a:t>
            </a:r>
            <a:br>
              <a:rPr lang="en-GB" dirty="0"/>
            </a:br>
            <a:r>
              <a:rPr lang="en-GB" dirty="0"/>
              <a:t>word or short phrase may be in another colour for emphasis.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66424-9FDB-4BC9-F026-99764529A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29259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Lime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710D29-8FDE-D921-0D43-770033C84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Text-only slide click to add heading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71717DE-D314-E6D0-15BF-02BA45D21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925" y="868149"/>
            <a:ext cx="7104063" cy="32258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F1CD38-8875-7F6A-99D6-37478E27722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236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 + Image - Lime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86EF1-5F6B-51A0-1127-7CEF29CDB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B23301-70DF-3F63-BCED-DA71FA8C1C1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1644" y="858839"/>
            <a:ext cx="4021494" cy="3619500"/>
          </a:xfrm>
        </p:spPr>
        <p:txBody>
          <a:bodyPr/>
          <a:lstStyle/>
          <a:p>
            <a:pPr lvl="0"/>
            <a:r>
              <a:rPr lang="en-GB" dirty="0"/>
              <a:t>Click to add image/chart/diagram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14792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or Diagram - no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1C3A61-2390-9132-8B81-AA738364A2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6E7548E-CC21-1955-9266-E702601FC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80114" y="4742837"/>
            <a:ext cx="3613150" cy="20239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800"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/>
            </a:lvl2pPr>
            <a:lvl5pPr marL="665163" indent="0">
              <a:buNone/>
              <a:defRPr/>
            </a:lvl5pPr>
          </a:lstStyle>
          <a:p>
            <a:pPr lvl="0"/>
            <a:r>
              <a:rPr lang="en-GB" dirty="0"/>
              <a:t>Click to add optional footnote, delete if not required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AA5FF7-E2A3-857F-69BE-1E450282D91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0"/>
            <a:ext cx="9144000" cy="4264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GB" dirty="0"/>
              <a:t>Drag to insert image/chart/diagram or click icons below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62658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or Diagram - with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B7DE-429E-3917-ED2C-03535E430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217" y="171520"/>
            <a:ext cx="4034485" cy="864178"/>
          </a:xfrm>
        </p:spPr>
        <p:txBody>
          <a:bodyPr/>
          <a:lstStyle/>
          <a:p>
            <a:r>
              <a:rPr lang="en-GB" dirty="0"/>
              <a:t>Click to add heading</a:t>
            </a: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3ED14B4E-D640-322D-1D48-021319DC50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80114" y="4742837"/>
            <a:ext cx="3613150" cy="20239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800"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/>
            </a:lvl2pPr>
            <a:lvl5pPr marL="665163" indent="0">
              <a:buNone/>
              <a:defRPr/>
            </a:lvl5pPr>
          </a:lstStyle>
          <a:p>
            <a:pPr lvl="0"/>
            <a:r>
              <a:rPr lang="en-GB" dirty="0"/>
              <a:t>Click to add optional footnote, delete if not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F40294-C814-063D-2A43-E8DB14A059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02530" y="184421"/>
            <a:ext cx="3437617" cy="10658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/>
            </a:lvl2pPr>
            <a:lvl3pPr>
              <a:defRPr sz="1100">
                <a:latin typeface="Georgia" panose="02040502050405020303" pitchFamily="18" charset="0"/>
              </a:defRPr>
            </a:lvl3pPr>
            <a:lvl5pPr marL="665163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2"/>
            <a:r>
              <a:rPr lang="en-GB" dirty="0"/>
              <a:t>Bullet point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0560318-7321-E90D-0986-C2F92697DD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4129B2-E89D-A8CD-1C03-8AD49AECF6F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16218" y="1316038"/>
            <a:ext cx="8224546" cy="2947987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GB" dirty="0"/>
              <a:t>Drag to insert image/chart/diagram or click icons below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1791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A8EDF12-1C19-E62E-94E0-8974D4130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Text-only slide click to add heading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416243F-3EBA-00D8-66EB-F15C43FE4D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65400"/>
            <a:ext cx="6786563" cy="296703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064302-3E98-D08D-CD67-78E1B772D4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0015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7EEF5-EF33-D6E6-BED1-A03E315F23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DFA922-DAD3-9818-6826-7165ABA00C0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0" y="858838"/>
            <a:ext cx="4021138" cy="3619500"/>
          </a:xfrm>
        </p:spPr>
        <p:txBody>
          <a:bodyPr/>
          <a:lstStyle/>
          <a:p>
            <a:pPr lvl="0"/>
            <a:r>
              <a:rPr lang="en-GB" dirty="0"/>
              <a:t>Click to add image/chart/diagram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71067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96C71A2-DB3B-7E3C-CEB1-309123E104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907" y="1212980"/>
            <a:ext cx="1762179" cy="1902136"/>
          </a:xfrm>
          <a:prstGeom prst="rect">
            <a:avLst/>
          </a:prstGeom>
        </p:spPr>
      </p:pic>
      <p:sp>
        <p:nvSpPr>
          <p:cNvPr id="6" name="Title 13">
            <a:extLst>
              <a:ext uri="{FF2B5EF4-FFF2-40B4-BE49-F238E27FC236}">
                <a16:creationId xmlns:a16="http://schemas.microsoft.com/office/drawing/2014/main" id="{ED555E62-9954-370D-93EE-6E25E80F0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18" y="2298215"/>
            <a:ext cx="5896591" cy="706243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800" spc="30" baseline="0"/>
            </a:lvl1pPr>
          </a:lstStyle>
          <a:p>
            <a:r>
              <a:rPr lang="en-GB" dirty="0"/>
              <a:t>Divider title here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0B95D9-19B0-A38C-196A-C9FAF09E3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708" y="1322516"/>
            <a:ext cx="870610" cy="8125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4800" b="1" i="0" spc="-100" baseline="0">
                <a:solidFill>
                  <a:schemeClr val="bg1"/>
                </a:solidFill>
                <a:latin typeface="Franklin Gothic Demi Cond" panose="020B0603020102020204" pitchFamily="34" charset="0"/>
              </a:defRPr>
            </a:lvl1pPr>
          </a:lstStyle>
          <a:p>
            <a:pPr lvl="0"/>
            <a:r>
              <a:rPr lang="en-GB" kern="0" dirty="0"/>
              <a:t>01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339700-8A87-A56F-068A-B414F7B8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3404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F69B99A2-FCDD-5902-BFD9-294E7BE4E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661" y="827479"/>
            <a:ext cx="8007827" cy="3283272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400" spc="30" baseline="0"/>
            </a:lvl1pPr>
          </a:lstStyle>
          <a:p>
            <a:r>
              <a:rPr lang="en-GB" dirty="0"/>
              <a:t>Large statement – as appropriate in </a:t>
            </a:r>
            <a:br>
              <a:rPr lang="en-GB" dirty="0"/>
            </a:br>
            <a:r>
              <a:rPr lang="en-GB" dirty="0"/>
              <a:t>key statements and quotes, a key</a:t>
            </a:r>
            <a:br>
              <a:rPr lang="en-GB" dirty="0"/>
            </a:br>
            <a:r>
              <a:rPr lang="en-GB" dirty="0"/>
              <a:t>word or short phrase may be in another colour for emphasis.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9576D6-8BDC-98B3-FD5A-1B5D926A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9296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1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299AEC20-E69A-76BA-0914-D0136AF0B595}"/>
              </a:ext>
            </a:extLst>
          </p:cNvPr>
          <p:cNvSpPr/>
          <p:nvPr userDrawn="1"/>
        </p:nvSpPr>
        <p:spPr bwMode="auto">
          <a:xfrm>
            <a:off x="2488117" y="-1"/>
            <a:ext cx="6655873" cy="5143501"/>
          </a:xfrm>
          <a:custGeom>
            <a:avLst/>
            <a:gdLst>
              <a:gd name="connsiteX0" fmla="*/ 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0 w 3413156"/>
              <a:gd name="connsiteY4" fmla="*/ 0 h 3576119"/>
              <a:gd name="connsiteX0" fmla="*/ 206419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064190 w 3413156"/>
              <a:gd name="connsiteY4" fmla="*/ 0 h 3576119"/>
              <a:gd name="connsiteX0" fmla="*/ 1954632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1954632 w 3413156"/>
              <a:gd name="connsiteY4" fmla="*/ 0 h 3576119"/>
              <a:gd name="connsiteX0" fmla="*/ 2152679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152679 w 3413156"/>
              <a:gd name="connsiteY4" fmla="*/ 0 h 3576119"/>
              <a:gd name="connsiteX0" fmla="*/ 1773439 w 3033916"/>
              <a:gd name="connsiteY0" fmla="*/ 0 h 3576119"/>
              <a:gd name="connsiteX1" fmla="*/ 3033916 w 3033916"/>
              <a:gd name="connsiteY1" fmla="*/ 0 h 3576119"/>
              <a:gd name="connsiteX2" fmla="*/ 3033916 w 3033916"/>
              <a:gd name="connsiteY2" fmla="*/ 3576119 h 3576119"/>
              <a:gd name="connsiteX3" fmla="*/ 0 w 3033916"/>
              <a:gd name="connsiteY3" fmla="*/ 3576119 h 3576119"/>
              <a:gd name="connsiteX4" fmla="*/ 1773439 w 3033916"/>
              <a:gd name="connsiteY4" fmla="*/ 0 h 3576119"/>
              <a:gd name="connsiteX0" fmla="*/ 1832432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32432 w 3092909"/>
              <a:gd name="connsiteY4" fmla="*/ 0 h 3576119"/>
              <a:gd name="connsiteX0" fmla="*/ 1899853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99853 w 3092909"/>
              <a:gd name="connsiteY4" fmla="*/ 0 h 3576119"/>
              <a:gd name="connsiteX0" fmla="*/ 1954632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54632 w 3092909"/>
              <a:gd name="connsiteY4" fmla="*/ 6294 h 3576119"/>
              <a:gd name="connsiteX0" fmla="*/ 1946204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6204 w 3092909"/>
              <a:gd name="connsiteY4" fmla="*/ 6294 h 3576119"/>
              <a:gd name="connsiteX0" fmla="*/ 1947854 w 3092909"/>
              <a:gd name="connsiteY0" fmla="*/ 1366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7854 w 3092909"/>
              <a:gd name="connsiteY4" fmla="*/ 1366 h 3576119"/>
              <a:gd name="connsiteX0" fmla="*/ 1952802 w 3097857"/>
              <a:gd name="connsiteY0" fmla="*/ 1366 h 3576119"/>
              <a:gd name="connsiteX1" fmla="*/ 3097857 w 3097857"/>
              <a:gd name="connsiteY1" fmla="*/ 0 h 3576119"/>
              <a:gd name="connsiteX2" fmla="*/ 3097857 w 3097857"/>
              <a:gd name="connsiteY2" fmla="*/ 3576119 h 3576119"/>
              <a:gd name="connsiteX3" fmla="*/ 0 w 3097857"/>
              <a:gd name="connsiteY3" fmla="*/ 3573655 h 3576119"/>
              <a:gd name="connsiteX4" fmla="*/ 1952802 w 3097857"/>
              <a:gd name="connsiteY4" fmla="*/ 1366 h 3576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7857" h="3576119">
                <a:moveTo>
                  <a:pt x="1952802" y="1366"/>
                </a:moveTo>
                <a:lnTo>
                  <a:pt x="3097857" y="0"/>
                </a:lnTo>
                <a:lnTo>
                  <a:pt x="3097857" y="3576119"/>
                </a:lnTo>
                <a:lnTo>
                  <a:pt x="0" y="3573655"/>
                </a:lnTo>
                <a:lnTo>
                  <a:pt x="1952802" y="1366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484BA5-875A-D74A-7BD5-38732DDD1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320F0F-DA8D-15A9-C6E9-20829F6D3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08140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2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299AEC20-E69A-76BA-0914-D0136AF0B595}"/>
              </a:ext>
            </a:extLst>
          </p:cNvPr>
          <p:cNvSpPr/>
          <p:nvPr userDrawn="1"/>
        </p:nvSpPr>
        <p:spPr bwMode="auto">
          <a:xfrm>
            <a:off x="2488117" y="-1"/>
            <a:ext cx="6655873" cy="5143501"/>
          </a:xfrm>
          <a:custGeom>
            <a:avLst/>
            <a:gdLst>
              <a:gd name="connsiteX0" fmla="*/ 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0 w 3413156"/>
              <a:gd name="connsiteY4" fmla="*/ 0 h 3576119"/>
              <a:gd name="connsiteX0" fmla="*/ 206419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064190 w 3413156"/>
              <a:gd name="connsiteY4" fmla="*/ 0 h 3576119"/>
              <a:gd name="connsiteX0" fmla="*/ 1954632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1954632 w 3413156"/>
              <a:gd name="connsiteY4" fmla="*/ 0 h 3576119"/>
              <a:gd name="connsiteX0" fmla="*/ 2152679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152679 w 3413156"/>
              <a:gd name="connsiteY4" fmla="*/ 0 h 3576119"/>
              <a:gd name="connsiteX0" fmla="*/ 1773439 w 3033916"/>
              <a:gd name="connsiteY0" fmla="*/ 0 h 3576119"/>
              <a:gd name="connsiteX1" fmla="*/ 3033916 w 3033916"/>
              <a:gd name="connsiteY1" fmla="*/ 0 h 3576119"/>
              <a:gd name="connsiteX2" fmla="*/ 3033916 w 3033916"/>
              <a:gd name="connsiteY2" fmla="*/ 3576119 h 3576119"/>
              <a:gd name="connsiteX3" fmla="*/ 0 w 3033916"/>
              <a:gd name="connsiteY3" fmla="*/ 3576119 h 3576119"/>
              <a:gd name="connsiteX4" fmla="*/ 1773439 w 3033916"/>
              <a:gd name="connsiteY4" fmla="*/ 0 h 3576119"/>
              <a:gd name="connsiteX0" fmla="*/ 1832432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32432 w 3092909"/>
              <a:gd name="connsiteY4" fmla="*/ 0 h 3576119"/>
              <a:gd name="connsiteX0" fmla="*/ 1899853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99853 w 3092909"/>
              <a:gd name="connsiteY4" fmla="*/ 0 h 3576119"/>
              <a:gd name="connsiteX0" fmla="*/ 1954632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54632 w 3092909"/>
              <a:gd name="connsiteY4" fmla="*/ 6294 h 3576119"/>
              <a:gd name="connsiteX0" fmla="*/ 1946204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6204 w 3092909"/>
              <a:gd name="connsiteY4" fmla="*/ 6294 h 3576119"/>
              <a:gd name="connsiteX0" fmla="*/ 1947854 w 3092909"/>
              <a:gd name="connsiteY0" fmla="*/ 1366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7854 w 3092909"/>
              <a:gd name="connsiteY4" fmla="*/ 1366 h 3576119"/>
              <a:gd name="connsiteX0" fmla="*/ 1952802 w 3097857"/>
              <a:gd name="connsiteY0" fmla="*/ 1366 h 3576119"/>
              <a:gd name="connsiteX1" fmla="*/ 3097857 w 3097857"/>
              <a:gd name="connsiteY1" fmla="*/ 0 h 3576119"/>
              <a:gd name="connsiteX2" fmla="*/ 3097857 w 3097857"/>
              <a:gd name="connsiteY2" fmla="*/ 3576119 h 3576119"/>
              <a:gd name="connsiteX3" fmla="*/ 0 w 3097857"/>
              <a:gd name="connsiteY3" fmla="*/ 3573655 h 3576119"/>
              <a:gd name="connsiteX4" fmla="*/ 1952802 w 3097857"/>
              <a:gd name="connsiteY4" fmla="*/ 1366 h 3576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7857" h="3576119">
                <a:moveTo>
                  <a:pt x="1952802" y="1366"/>
                </a:moveTo>
                <a:lnTo>
                  <a:pt x="3097857" y="0"/>
                </a:lnTo>
                <a:lnTo>
                  <a:pt x="3097857" y="3576119"/>
                </a:lnTo>
                <a:lnTo>
                  <a:pt x="0" y="3573655"/>
                </a:lnTo>
                <a:lnTo>
                  <a:pt x="1952802" y="1366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484BA5-875A-D74A-7BD5-38732DDD1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E2F907-E909-A175-78A6-75C3EC200F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81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Image 1 - Sand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AC4FFD99-1A12-7365-A732-1AD2E9BF8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DC92CB0-F542-88C1-CCB5-F5AAFD2386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202294-1095-48AD-0DEA-06B6C6EEB4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94970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Image 2 - Sand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AC4FFD99-1A12-7365-A732-1AD2E9BF8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DC92CB0-F542-88C1-CCB5-F5AAFD2386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F49EAE-07C5-4961-EE2B-CB61098B03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585035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Image –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9CFD129-1E84-D3A9-D2DF-2DEC99059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802931" cy="73155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44332F21-7BDB-D056-0E1A-62F4BF700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7856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1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3544" cy="731294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1FE1432D-80F7-39A3-2A49-5A67749798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A721DE-5D37-9BCC-D371-574C6E5659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938696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2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3544" cy="731294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1FE1432D-80F7-39A3-2A49-5A67749798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63E165-1D48-55A4-852A-CD47843B8C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01800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Image – Bright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28D05E4-9E0C-8925-BA90-CAC43ADCD2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4186238" cy="731294"/>
          </a:xfrm>
        </p:spPr>
        <p:txBody>
          <a:bodyPr>
            <a:noAutofit/>
          </a:bodyPr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4E81525E-3A88-AAC3-269E-4286D3653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9052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Image –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D9FD767-AE4F-7D27-092F-2BE70CAFFB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7605" cy="731294"/>
          </a:xfrm>
        </p:spPr>
        <p:txBody>
          <a:bodyPr>
            <a:noAutofit/>
          </a:bodyPr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73449B55-E9E7-5A13-D626-B9512C83B6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543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2971800" y="290514"/>
            <a:ext cx="3200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BB730-96BC-DAF5-7747-B3407F71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BFE83-9705-00DD-1DD1-27D362C1C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217" y="1072389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EE0B90A-D564-CD99-7A5C-25B9544D8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7" r:id="rId2"/>
    <p:sldLayoutId id="2147483702" r:id="rId3"/>
    <p:sldLayoutId id="2147483668" r:id="rId4"/>
    <p:sldLayoutId id="2147483666" r:id="rId5"/>
    <p:sldLayoutId id="2147483661" r:id="rId6"/>
    <p:sldLayoutId id="2147483701" r:id="rId7"/>
    <p:sldLayoutId id="2147483669" r:id="rId8"/>
    <p:sldLayoutId id="2147483700" r:id="rId9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 b="1" i="0" spc="-40" baseline="0">
          <a:solidFill>
            <a:srgbClr val="140F50"/>
          </a:solidFill>
          <a:latin typeface="Franklin Gothic Demi Cond" panose="020B0603020102020204" pitchFamily="34" charset="0"/>
          <a:ea typeface="Franklin Gothic Demi Cond" panose="020B0603020102020204" pitchFamily="34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0" indent="0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None/>
        <a:defRPr sz="1200" b="0" i="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1pPr>
      <a:lvl2pPr marL="7938" indent="0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SzPct val="110000"/>
        <a:buFont typeface="Arial" panose="020B0604020202020204" pitchFamily="34" charset="0"/>
        <a:buNone/>
        <a:tabLst/>
        <a:defRPr sz="120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2pPr>
      <a:lvl3pPr marL="222250" indent="-222250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Char char="•"/>
        <a:tabLst/>
        <a:defRPr sz="120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3pPr>
      <a:lvl4pPr marL="222250" indent="-214313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Char char="–"/>
        <a:tabLst/>
        <a:defRPr sz="120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4pPr>
      <a:lvl5pPr marL="239713" indent="-239713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Char char="»"/>
        <a:tabLst/>
        <a:defRPr sz="120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2971800" y="290514"/>
            <a:ext cx="3200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BB730-96BC-DAF5-7747-B3407F71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BFE83-9705-00DD-1DD1-27D362C1C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217" y="1100382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B064F-F544-3C75-FE0D-F329C12CE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37550" y="4730314"/>
            <a:ext cx="36585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</a:lstStyle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04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2" r:id="rId3"/>
    <p:sldLayoutId id="2147483693" r:id="rId4"/>
    <p:sldLayoutId id="2147483649" r:id="rId5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 b="1" i="0" spc="-40" baseline="0">
          <a:solidFill>
            <a:schemeClr val="bg1"/>
          </a:solidFill>
          <a:latin typeface="Franklin Gothic Demi Cond" panose="020B0603020102020204" pitchFamily="34" charset="0"/>
          <a:ea typeface="Franklin Gothic Demi Cond" panose="020B0603020102020204" pitchFamily="34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0" indent="0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None/>
        <a:defRPr sz="1200" b="0" i="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1pPr>
      <a:lvl2pPr marL="7938" indent="0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SzPct val="110000"/>
        <a:buFont typeface="Arial" panose="020B0604020202020204" pitchFamily="34" charset="0"/>
        <a:buNone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2pPr>
      <a:lvl3pPr marL="222250" indent="-214313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Char char="•"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3pPr>
      <a:lvl4pPr marL="222250" indent="-214313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Char char="–"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4pPr>
      <a:lvl5pPr marL="239713" indent="-239713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Char char="»"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8B126-B6E8-5D02-ECA8-665E6F68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DF7CE-40BE-91A1-F30E-4345B8321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23525"/>
            <a:ext cx="7886700" cy="1957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subheading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67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58" r:id="rId2"/>
    <p:sldLayoutId id="2147483696" r:id="rId3"/>
    <p:sldLayoutId id="2147483698" r:id="rId4"/>
    <p:sldLayoutId id="2147483690" r:id="rId5"/>
  </p:sldLayoutIdLst>
  <p:hf hdr="0" ftr="0" dt="0"/>
  <p:txStyles>
    <p:titleStyle>
      <a:lvl1pPr algn="l" defTabSz="914400" rtl="0" eaLnBrk="1" latinLnBrk="0" hangingPunct="1">
        <a:lnSpc>
          <a:spcPts val="4900"/>
        </a:lnSpc>
        <a:spcBef>
          <a:spcPct val="0"/>
        </a:spcBef>
        <a:buNone/>
        <a:defRPr sz="5200" b="1" i="0" kern="1200" spc="-40" baseline="0">
          <a:solidFill>
            <a:srgbClr val="140F50"/>
          </a:solidFill>
          <a:latin typeface="Franklin Gothic Demi Cond" panose="020B06030201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 spc="-30" baseline="0">
          <a:solidFill>
            <a:schemeClr val="tx2"/>
          </a:solidFill>
          <a:latin typeface="Franklin Gothic Medium Cond" panose="020B0606030402020204" pitchFamily="34" charset="0"/>
          <a:ea typeface="+mn-ea"/>
          <a:cs typeface="+mn-cs"/>
        </a:defRPr>
      </a:lvl1pPr>
      <a:lvl2pPr marL="7937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4pPr>
      <a:lvl5pPr marL="7937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8B126-B6E8-5D02-ECA8-665E6F68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DF7CE-40BE-91A1-F30E-4345B8321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23525"/>
            <a:ext cx="7886700" cy="225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subheading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35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9" r:id="rId2"/>
    <p:sldLayoutId id="2147483689" r:id="rId3"/>
    <p:sldLayoutId id="2147483691" r:id="rId4"/>
  </p:sldLayoutIdLst>
  <p:hf hdr="0" ftr="0" dt="0"/>
  <p:txStyles>
    <p:titleStyle>
      <a:lvl1pPr algn="l" defTabSz="914400" rtl="0" eaLnBrk="1" latinLnBrk="0" hangingPunct="1">
        <a:lnSpc>
          <a:spcPts val="5000"/>
        </a:lnSpc>
        <a:spcBef>
          <a:spcPct val="0"/>
        </a:spcBef>
        <a:buNone/>
        <a:defRPr sz="5200" b="1" i="0" kern="1200" spc="-40" baseline="0">
          <a:solidFill>
            <a:schemeClr val="bg1"/>
          </a:solidFill>
          <a:latin typeface="Franklin Gothic Demi Cond" panose="020B06030201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200" b="0" i="0" kern="1200" spc="-30" baseline="0">
          <a:solidFill>
            <a:schemeClr val="accent2"/>
          </a:solidFill>
          <a:latin typeface="Franklin Gothic Medium Cond" panose="020B06060304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4pPr>
      <a:lvl5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0751E2-9888-EDC7-0631-E42B85F25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427" y="762511"/>
            <a:ext cx="8612683" cy="1437619"/>
          </a:xfrm>
        </p:spPr>
        <p:txBody>
          <a:bodyPr>
            <a:noAutofit/>
          </a:bodyPr>
          <a:lstStyle/>
          <a:p>
            <a:r>
              <a:rPr lang="en-US" sz="4400" dirty="0"/>
              <a:t>ARTI 6000: </a:t>
            </a:r>
            <a:r>
              <a:rPr lang="en-GB" sz="4400" dirty="0"/>
              <a:t>Advanced Topics in Artificial Intelligence &amp; Machine Learning</a:t>
            </a:r>
            <a:endParaRPr lang="en-US" sz="44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EFA513C-B966-FA9D-ECA0-26AF66BA1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2286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AFCDDD-A48C-D25B-C85B-52E078540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064281"/>
              </p:ext>
            </p:extLst>
          </p:nvPr>
        </p:nvGraphicFramePr>
        <p:xfrm>
          <a:off x="306051" y="3436109"/>
          <a:ext cx="6468587" cy="701040"/>
        </p:xfrm>
        <a:graphic>
          <a:graphicData uri="http://schemas.openxmlformats.org/drawingml/2006/table">
            <a:tbl>
              <a:tblPr/>
              <a:tblGrid>
                <a:gridCol w="6468587">
                  <a:extLst>
                    <a:ext uri="{9D8B030D-6E8A-4147-A177-3AD203B41FA5}">
                      <a16:colId xmlns:a16="http://schemas.microsoft.com/office/drawing/2014/main" val="1445361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4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52235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2CE8D-CDF9-450E-9D00-15021231F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8" y="2814616"/>
            <a:ext cx="7757585" cy="73129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LLM Bias and Trustworthiness Assessment in Phishing Susceptibility Analysis</a:t>
            </a:r>
          </a:p>
          <a:p>
            <a:r>
              <a:rPr lang="en-IN" sz="1400" dirty="0">
                <a:solidFill>
                  <a:srgbClr val="FFFF00"/>
                </a:solidFill>
              </a:rPr>
              <a:t>By: Jaden Machado                           AUID: A1992876</a:t>
            </a:r>
            <a:endParaRPr lang="en-AU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797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87E3DD-D2DA-52D6-18BA-269B05F9B154}"/>
              </a:ext>
            </a:extLst>
          </p:cNvPr>
          <p:cNvSpPr txBox="1"/>
          <p:nvPr/>
        </p:nvSpPr>
        <p:spPr>
          <a:xfrm>
            <a:off x="443592" y="973604"/>
            <a:ext cx="8082037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Research Questions: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1) How effectively do LLMs generate structured phishing-susceptible personas?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2) What demographic factors (age, gender, education, domain, personality) predict phishing vulnerability?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3) Do LLMs exhibit systematic biases in vulnerability assignment across gender and age groups?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4) How do models compare across DECODINGTRUST trustworthiness dimensions?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5) What is the relationship between model size/architecture and performance?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6) Do LLMs demonstrate consistent ethical reasoning on phishing-related queries?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7) How does model choice affect data quality and completeness?</a:t>
            </a:r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126222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0339FC-DF45-F6FF-D41A-37B38DAB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214" y="582283"/>
            <a:ext cx="7134039" cy="552740"/>
          </a:xfrm>
        </p:spPr>
        <p:txBody>
          <a:bodyPr>
            <a:noAutofit/>
          </a:bodyPr>
          <a:lstStyle/>
          <a:p>
            <a:r>
              <a:rPr lang="en-IN" sz="2400" dirty="0"/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B88E4-8C67-99FC-6370-B23CE6E180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14" y="1190972"/>
            <a:ext cx="8115983" cy="21963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6A9CE7-619A-477A-7A9C-33DAE8DEF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258" y="3446467"/>
            <a:ext cx="4902705" cy="16007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2E3083-2A4B-CB92-53D4-1504F4377F11}"/>
              </a:ext>
            </a:extLst>
          </p:cNvPr>
          <p:cNvSpPr txBox="1"/>
          <p:nvPr/>
        </p:nvSpPr>
        <p:spPr>
          <a:xfrm>
            <a:off x="541214" y="3387296"/>
            <a:ext cx="1965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Specs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5697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BC7BFF-EC05-7FAD-3346-8266E302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419" y="-228083"/>
            <a:ext cx="3872679" cy="731557"/>
          </a:xfrm>
        </p:spPr>
        <p:txBody>
          <a:bodyPr>
            <a:normAutofit/>
          </a:bodyPr>
          <a:lstStyle/>
          <a:p>
            <a:r>
              <a:rPr lang="en-IN" sz="1800" dirty="0"/>
              <a:t>MODEL PERFORMANCE COMPARISON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4E58C7-308E-72CB-DC6B-B70CCCDB97AC}"/>
              </a:ext>
            </a:extLst>
          </p:cNvPr>
          <p:cNvSpPr txBox="1"/>
          <p:nvPr/>
        </p:nvSpPr>
        <p:spPr>
          <a:xfrm>
            <a:off x="6718869" y="436525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Dataset Summary: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7DFAE5-B15A-2433-EE53-7199C7CD1561}"/>
              </a:ext>
            </a:extLst>
          </p:cNvPr>
          <p:cNvSpPr txBox="1"/>
          <p:nvPr/>
        </p:nvSpPr>
        <p:spPr>
          <a:xfrm>
            <a:off x="5810972" y="1653344"/>
            <a:ext cx="3202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Vulnerability Detection Rates:</a:t>
            </a:r>
            <a:endParaRPr lang="en-IN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2D5B7B-6799-C51A-9141-E9EBA0C700C6}"/>
              </a:ext>
            </a:extLst>
          </p:cNvPr>
          <p:cNvSpPr txBox="1"/>
          <p:nvPr/>
        </p:nvSpPr>
        <p:spPr>
          <a:xfrm>
            <a:off x="231787" y="2988038"/>
            <a:ext cx="8680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Key Finding:</a:t>
            </a:r>
            <a:r>
              <a:rPr lang="en-US" sz="1200" dirty="0"/>
              <a:t> Instruction tuning matters more than parameter count! Mistral-7B (7.3B) outperformed larger Qwen3-8B (8.2B).</a:t>
            </a:r>
            <a:endParaRPr lang="en-IN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86DE6E-EFD4-675C-21E1-6B4926BD09BA}"/>
              </a:ext>
            </a:extLst>
          </p:cNvPr>
          <p:cNvSpPr txBox="1"/>
          <p:nvPr/>
        </p:nvSpPr>
        <p:spPr>
          <a:xfrm>
            <a:off x="6229973" y="3994439"/>
            <a:ext cx="2065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Visual comparison</a:t>
            </a:r>
            <a:endParaRPr lang="en-IN"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82FCA7-DA7D-3394-CF59-925C031B8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88" y="757726"/>
            <a:ext cx="8085330" cy="9279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8F58012-B3B7-A919-7267-2B20C2958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948" y="2022676"/>
            <a:ext cx="5810970" cy="8693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1B9193-4E2B-3BE8-E5CA-10A08C4946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764" y="3305288"/>
            <a:ext cx="2469198" cy="174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1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559642-65CB-3B6A-6869-C79E75BA0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446" y="-106824"/>
            <a:ext cx="7572600" cy="731557"/>
          </a:xfrm>
        </p:spPr>
        <p:txBody>
          <a:bodyPr>
            <a:normAutofit/>
          </a:bodyPr>
          <a:lstStyle/>
          <a:p>
            <a:r>
              <a:rPr lang="en-IN" sz="2000" dirty="0"/>
              <a:t>Results: Demographics analysis (Vulnerable personas)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2D3BF9-0702-769F-E0EC-CE635D966A77}"/>
              </a:ext>
            </a:extLst>
          </p:cNvPr>
          <p:cNvSpPr txBox="1"/>
          <p:nvPr/>
        </p:nvSpPr>
        <p:spPr>
          <a:xfrm>
            <a:off x="347527" y="685308"/>
            <a:ext cx="17723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Vulnerability by Gender</a:t>
            </a:r>
            <a:endParaRPr lang="en-IN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5077A9-1FA3-CD41-E052-497BDC5F1B8F}"/>
              </a:ext>
            </a:extLst>
          </p:cNvPr>
          <p:cNvSpPr txBox="1"/>
          <p:nvPr/>
        </p:nvSpPr>
        <p:spPr>
          <a:xfrm>
            <a:off x="455524" y="1935781"/>
            <a:ext cx="2379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Vulnerability by Age Group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77AABC-B288-19FF-7EBA-B205598C21D0}"/>
              </a:ext>
            </a:extLst>
          </p:cNvPr>
          <p:cNvSpPr txBox="1"/>
          <p:nvPr/>
        </p:nvSpPr>
        <p:spPr>
          <a:xfrm>
            <a:off x="4270499" y="1955984"/>
            <a:ext cx="19342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Most Vulnerable Domains</a:t>
            </a:r>
            <a:endParaRPr lang="en-IN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BA952F-53CB-13ED-0714-43422B6DFF73}"/>
              </a:ext>
            </a:extLst>
          </p:cNvPr>
          <p:cNvSpPr txBox="1"/>
          <p:nvPr/>
        </p:nvSpPr>
        <p:spPr>
          <a:xfrm>
            <a:off x="185625" y="4051364"/>
            <a:ext cx="2351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Vulnerability by Education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FAAA868-DE69-768F-E89B-4DB6CFD38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872" y="558379"/>
            <a:ext cx="5154532" cy="118996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1F21400-805A-64AC-447F-3334BB7F9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24" y="2343522"/>
            <a:ext cx="2019722" cy="107075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21A6A01-B93B-B57E-0F9E-07683C8C35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930" y="2309885"/>
            <a:ext cx="3521703" cy="110439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374F4DC-C0FD-AAF9-6D84-5CC611DA6B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249" y="3683914"/>
            <a:ext cx="3770854" cy="124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73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2CB37B-BE6E-C06C-4FB6-CDEE9332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186" y="468605"/>
            <a:ext cx="5616135" cy="443011"/>
          </a:xfrm>
        </p:spPr>
        <p:txBody>
          <a:bodyPr>
            <a:noAutofit/>
          </a:bodyPr>
          <a:lstStyle/>
          <a:p>
            <a:r>
              <a:rPr lang="en-IN" sz="1600" dirty="0"/>
              <a:t>THE EDUCATION PARADOX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D5D6C-B27E-CA8C-1AF8-EE6C6BA5C3B8}"/>
              </a:ext>
            </a:extLst>
          </p:cNvPr>
          <p:cNvSpPr txBox="1"/>
          <p:nvPr/>
        </p:nvSpPr>
        <p:spPr>
          <a:xfrm>
            <a:off x="309186" y="1078860"/>
            <a:ext cx="8209864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Surprising Finding:</a:t>
            </a:r>
            <a:endParaRPr lang="en-US" sz="1200" dirty="0"/>
          </a:p>
          <a:p>
            <a:r>
              <a:rPr lang="en-US" sz="1100" b="1" dirty="0"/>
              <a:t>PhD HOLDERS ARE MOST VULNERABLE!</a:t>
            </a:r>
          </a:p>
          <a:p>
            <a:r>
              <a:rPr lang="en-US" sz="1100" b="1" dirty="0"/>
              <a:t>28.6% of vulnerable cases had PhD degrees</a:t>
            </a:r>
            <a:endParaRPr lang="en-US" sz="1100" dirty="0"/>
          </a:p>
          <a:p>
            <a:endParaRPr lang="en-US" sz="1100" dirty="0"/>
          </a:p>
          <a:p>
            <a:r>
              <a:rPr lang="en-US" sz="1200" b="1" dirty="0"/>
              <a:t>Why? Three Explanations:</a:t>
            </a:r>
          </a:p>
          <a:p>
            <a:endParaRPr lang="en-US" sz="1200" dirty="0"/>
          </a:p>
          <a:p>
            <a:r>
              <a:rPr lang="en-US" sz="1050" dirty="0"/>
              <a:t>1) OVERCONFIDENCE EFFECT:</a:t>
            </a:r>
          </a:p>
          <a:p>
            <a:r>
              <a:rPr lang="en-US" sz="1050" dirty="0"/>
              <a:t>Higher education correlates with overestimation of phishing detection ability</a:t>
            </a:r>
          </a:p>
          <a:p>
            <a:r>
              <a:rPr lang="en-US" sz="1050" dirty="0"/>
              <a:t>People think they're too smart to be tricked</a:t>
            </a:r>
          </a:p>
          <a:p>
            <a:endParaRPr lang="en-US" sz="1050" dirty="0"/>
          </a:p>
          <a:p>
            <a:r>
              <a:rPr lang="en-US" sz="1050" dirty="0"/>
              <a:t>2) TARGETED ATTACKS</a:t>
            </a:r>
          </a:p>
          <a:p>
            <a:r>
              <a:rPr lang="en-US" sz="1050" dirty="0"/>
              <a:t>Professionals with advanced degrees receive more sophisticated spear-phishing attempts</a:t>
            </a:r>
          </a:p>
          <a:p>
            <a:r>
              <a:rPr lang="en-US" sz="1050" dirty="0"/>
              <a:t>Attackers invest more effort for higher-value targets</a:t>
            </a:r>
          </a:p>
          <a:p>
            <a:endParaRPr lang="en-US" sz="1050" dirty="0"/>
          </a:p>
          <a:p>
            <a:r>
              <a:rPr lang="en-US" sz="1050" dirty="0"/>
              <a:t>3) SENSITIVE DATA ACCESS</a:t>
            </a:r>
          </a:p>
          <a:p>
            <a:r>
              <a:rPr lang="en-US" sz="1050" dirty="0"/>
              <a:t>Higher education often correlates with access to sensitive data</a:t>
            </a:r>
          </a:p>
          <a:p>
            <a:r>
              <a:rPr lang="en-US" sz="1050" dirty="0"/>
              <a:t>Makes individuals more attractive targets for cybercriminals</a:t>
            </a:r>
          </a:p>
          <a:p>
            <a:endParaRPr lang="en-US" sz="1050" dirty="0"/>
          </a:p>
          <a:p>
            <a:r>
              <a:rPr lang="en-US" sz="1200" b="1" dirty="0"/>
              <a:t>Comparison with Literature:</a:t>
            </a:r>
            <a:endParaRPr lang="en-US" sz="1200" dirty="0"/>
          </a:p>
          <a:p>
            <a:r>
              <a:rPr lang="en-US" sz="1200" dirty="0"/>
              <a:t>Contradicts Sheng et al. (2010) who found lower education associated with higher vulnerability</a:t>
            </a:r>
          </a:p>
          <a:p>
            <a:r>
              <a:rPr lang="en-US" sz="1200" dirty="0"/>
              <a:t>Suggests changing dynamics in the phishing landscape</a:t>
            </a:r>
          </a:p>
          <a:p>
            <a:br>
              <a:rPr lang="en-US" sz="1200" dirty="0"/>
            </a:br>
            <a:endParaRPr lang="en-IN" sz="1200" dirty="0"/>
          </a:p>
        </p:txBody>
      </p:sp>
      <p:pic>
        <p:nvPicPr>
          <p:cNvPr id="1028" name="Picture 4" descr="How to Recognize and Avoid Phishing Scams">
            <a:extLst>
              <a:ext uri="{FF2B5EF4-FFF2-40B4-BE49-F238E27FC236}">
                <a16:creationId xmlns:a16="http://schemas.microsoft.com/office/drawing/2014/main" id="{5BE99643-629D-10B3-9179-BB4B6616F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330" y="588700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1647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8F9921-5D69-D391-CA4D-4E433EB4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74" y="649252"/>
            <a:ext cx="8020722" cy="731556"/>
          </a:xfrm>
        </p:spPr>
        <p:txBody>
          <a:bodyPr>
            <a:normAutofit/>
          </a:bodyPr>
          <a:lstStyle/>
          <a:p>
            <a:r>
              <a:rPr lang="en-IN" sz="2400" dirty="0"/>
              <a:t>Decondingtrust  ( Evaluation Metrics) Results: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D93FDE-E8FA-42E2-9800-6757BDCAC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02" t="57426" r="11295" b="33704"/>
          <a:stretch>
            <a:fillRect/>
          </a:stretch>
        </p:blipFill>
        <p:spPr>
          <a:xfrm>
            <a:off x="480223" y="3947051"/>
            <a:ext cx="4224287" cy="6524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AF91BD-7340-0948-CEBF-60FAF191637C}"/>
              </a:ext>
            </a:extLst>
          </p:cNvPr>
          <p:cNvSpPr txBox="1"/>
          <p:nvPr/>
        </p:nvSpPr>
        <p:spPr>
          <a:xfrm>
            <a:off x="393074" y="3552346"/>
            <a:ext cx="1194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Toxicity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D52286-A429-675A-B348-F6AC618BD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23" y="1478654"/>
            <a:ext cx="6519213" cy="187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66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7B960C-2F4E-7287-A1B0-AEABF5092047}"/>
              </a:ext>
            </a:extLst>
          </p:cNvPr>
          <p:cNvSpPr txBox="1"/>
          <p:nvPr/>
        </p:nvSpPr>
        <p:spPr>
          <a:xfrm>
            <a:off x="316992" y="219438"/>
            <a:ext cx="4580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Answer to research questions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C3237-947E-D304-0A04-6B582636E61E}"/>
              </a:ext>
            </a:extLst>
          </p:cNvPr>
          <p:cNvSpPr txBox="1"/>
          <p:nvPr/>
        </p:nvSpPr>
        <p:spPr>
          <a:xfrm>
            <a:off x="316991" y="709917"/>
            <a:ext cx="860992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RQ1: Agent Generation Effectiveness</a:t>
            </a:r>
            <a:br>
              <a:rPr lang="en-IN" sz="1000" dirty="0"/>
            </a:br>
            <a:r>
              <a:rPr lang="en-IN" sz="1000" dirty="0"/>
              <a:t>Mistral-7B: 100% | Qwen3-8B: 27% | GPT-2: 0%</a:t>
            </a:r>
          </a:p>
          <a:p>
            <a:endParaRPr lang="en-IN" sz="1000" dirty="0"/>
          </a:p>
          <a:p>
            <a:r>
              <a:rPr lang="en-IN" sz="1000" b="1" dirty="0"/>
              <a:t>RQ2: Vulnerability Predictors</a:t>
            </a:r>
            <a:br>
              <a:rPr lang="en-IN" sz="1000" dirty="0"/>
            </a:br>
            <a:r>
              <a:rPr lang="en-IN" sz="1000" dirty="0"/>
              <a:t>IT Domain (42.9%) | Female (46.2%) | PhD Degree (28.6%) | Ages 24-25 &amp; 62-68 (U-shaped curve) | Agent 1 Position (100% positional bias in Mistral)</a:t>
            </a:r>
          </a:p>
          <a:p>
            <a:endParaRPr lang="en-IN" sz="1000" dirty="0"/>
          </a:p>
          <a:p>
            <a:r>
              <a:rPr lang="en-IN" sz="1000" b="1" dirty="0"/>
              <a:t>RQ3: Systematic Biases Detected?</a:t>
            </a:r>
            <a:br>
              <a:rPr lang="en-IN" sz="1000" dirty="0"/>
            </a:br>
            <a:r>
              <a:rPr lang="en-IN" sz="1000" dirty="0"/>
              <a:t>YES - Gender (Female +7.7% vs Non-binary), Positional (Agent 1 chosen 100% of time by Mistral), Domain (IT bias 42.9%)</a:t>
            </a:r>
          </a:p>
          <a:p>
            <a:endParaRPr lang="en-IN" sz="1000" dirty="0"/>
          </a:p>
          <a:p>
            <a:r>
              <a:rPr lang="en-IN" sz="1000" b="1" dirty="0"/>
              <a:t>RQ4: DECODINGTRUST Comparison</a:t>
            </a:r>
            <a:br>
              <a:rPr lang="en-IN" sz="1000" dirty="0"/>
            </a:br>
            <a:r>
              <a:rPr lang="en-IN" sz="1000" dirty="0"/>
              <a:t>Toxicity: Very low (</a:t>
            </a:r>
            <a:r>
              <a:rPr lang="en-IN" sz="1000" dirty="0" err="1"/>
              <a:t>avg</a:t>
            </a:r>
            <a:r>
              <a:rPr lang="en-IN" sz="1000" dirty="0"/>
              <a:t> 0.003) | Ethics: 3/3 perfect | Privacy: 0 violations | Fairness: Poor (positional bias </a:t>
            </a:r>
            <a:r>
              <a:rPr lang="en-IN" sz="1000"/>
              <a:t>detected)</a:t>
            </a:r>
            <a:endParaRPr lang="en-IN" sz="1000" dirty="0"/>
          </a:p>
          <a:p>
            <a:endParaRPr lang="en-IN" sz="1000" dirty="0"/>
          </a:p>
          <a:p>
            <a:r>
              <a:rPr lang="en-IN" sz="1000" b="1" dirty="0"/>
              <a:t>RQ5: Model Size vs Performance</a:t>
            </a:r>
            <a:br>
              <a:rPr lang="en-IN" sz="1000" dirty="0"/>
            </a:br>
            <a:r>
              <a:rPr lang="en-IN" sz="1000" dirty="0"/>
              <a:t>BIGGER ≠ BETTER - Mistral-7B (7.3B) outperformed Qwen3-8B (8.2B) in both data completeness (100% vs 27%) and vulnerability detection (33.3% vs 13.3%)</a:t>
            </a:r>
          </a:p>
          <a:p>
            <a:endParaRPr lang="en-IN" sz="1000" dirty="0"/>
          </a:p>
          <a:p>
            <a:r>
              <a:rPr lang="en-IN" sz="1000" b="1" dirty="0"/>
              <a:t>RQ6: Ethical Reasoning</a:t>
            </a:r>
            <a:br>
              <a:rPr lang="en-IN" sz="1000" dirty="0"/>
            </a:br>
            <a:r>
              <a:rPr lang="en-IN" sz="1000" dirty="0"/>
              <a:t>YES - All 3 models refused phishing assistance (100% compliance) - Qwen3-8B explicitly stated "Unethical", Mistral-7B and GPT-2 also refused</a:t>
            </a:r>
          </a:p>
          <a:p>
            <a:endParaRPr lang="en-IN" sz="1000" dirty="0"/>
          </a:p>
          <a:p>
            <a:r>
              <a:rPr lang="en-IN" sz="1000" b="1" dirty="0"/>
              <a:t>RQ7: Model Choice Impact</a:t>
            </a:r>
            <a:br>
              <a:rPr lang="en-IN" sz="1000" dirty="0"/>
            </a:br>
            <a:r>
              <a:rPr lang="en-IN" sz="1000" dirty="0"/>
              <a:t>CRITICAL - Data completeness: 100% (Mistral) vs 27% (Qwen) vs 0% (GPT-2) | Vulnerability detection: 33.3% vs 13.3% vs 0% | Positional bias: Present in both functional models</a:t>
            </a:r>
          </a:p>
          <a:p>
            <a:br>
              <a:rPr lang="en-IN" sz="1000" dirty="0"/>
            </a:br>
            <a:br>
              <a:rPr lang="en-IN" sz="1000" dirty="0"/>
            </a:br>
            <a:endParaRPr lang="en-IN" sz="1000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29383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9C776-9E8D-10D6-7A55-5F0681A65C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332564"/>
            <a:ext cx="7300558" cy="3340100"/>
          </a:xfrm>
        </p:spPr>
        <p:txBody>
          <a:bodyPr/>
          <a:lstStyle/>
          <a:p>
            <a:endParaRPr lang="en-IN" dirty="0"/>
          </a:p>
          <a:p>
            <a:r>
              <a:rPr lang="en-IN" b="1" dirty="0"/>
              <a:t>Limitations</a:t>
            </a:r>
          </a:p>
          <a:p>
            <a:r>
              <a:rPr lang="en-IN" b="1" dirty="0"/>
              <a:t>1.</a:t>
            </a:r>
            <a:r>
              <a:rPr lang="en-IN" dirty="0"/>
              <a:t> 73% data loss for Qwen3-8B due to parsing failures from unstructured output format</a:t>
            </a:r>
          </a:p>
          <a:p>
            <a:r>
              <a:rPr lang="en-IN" b="1" dirty="0"/>
              <a:t>2.</a:t>
            </a:r>
            <a:r>
              <a:rPr lang="en-IN" dirty="0"/>
              <a:t> Small sample size (90 total samples) due to computational time constraints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Future Work </a:t>
            </a:r>
          </a:p>
          <a:p>
            <a:r>
              <a:rPr lang="en-IN" b="1" dirty="0"/>
              <a:t>1.</a:t>
            </a:r>
            <a:r>
              <a:rPr lang="en-IN" dirty="0"/>
              <a:t> Scale to 900+ samples with dedicated compute resources for statistical robustness</a:t>
            </a:r>
          </a:p>
          <a:p>
            <a:r>
              <a:rPr lang="en-IN" b="1" dirty="0"/>
              <a:t>2.</a:t>
            </a:r>
            <a:r>
              <a:rPr lang="en-IN" dirty="0"/>
              <a:t> Include gated models (Llama-3, Gemma-2) to compare bias patterns</a:t>
            </a: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2050" name="Picture 2" descr="Employees Designing The Future Of Work">
            <a:extLst>
              <a:ext uri="{FF2B5EF4-FFF2-40B4-BE49-F238E27FC236}">
                <a16:creationId xmlns:a16="http://schemas.microsoft.com/office/drawing/2014/main" id="{6F215DA6-6BF4-0B28-8EE8-4DADFEC2C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421" y="2986156"/>
            <a:ext cx="294322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23785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18FF7C-6241-4D11-EF3A-0E4304543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105" y="119327"/>
            <a:ext cx="7886700" cy="461665"/>
          </a:xfrm>
        </p:spPr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21F3F-B621-D24B-DD53-1FD2794DCA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7012" y="629920"/>
            <a:ext cx="7945793" cy="4010420"/>
          </a:xfrm>
        </p:spPr>
        <p:txBody>
          <a:bodyPr>
            <a:normAutofit/>
          </a:bodyPr>
          <a:lstStyle/>
          <a:p>
            <a:r>
              <a:rPr lang="en-IN" dirty="0"/>
              <a:t>• APWG (2025). Phishing Activity Trends Report.</a:t>
            </a:r>
          </a:p>
          <a:p>
            <a:r>
              <a:rPr lang="en-IN" dirty="0"/>
              <a:t>• Bender, E. M., et al. (2021). On the dangers of stochastic parrots. </a:t>
            </a:r>
            <a:r>
              <a:rPr lang="en-IN" dirty="0" err="1"/>
              <a:t>FAccT</a:t>
            </a:r>
            <a:r>
              <a:rPr lang="en-IN" dirty="0"/>
              <a:t>.</a:t>
            </a:r>
          </a:p>
          <a:p>
            <a:r>
              <a:rPr lang="en-IN" dirty="0"/>
              <a:t>• Halevi, T., et al. (2015). Phishing, personality traits and Facebook. </a:t>
            </a:r>
            <a:r>
              <a:rPr lang="en-IN" dirty="0" err="1"/>
              <a:t>arXiv</a:t>
            </a:r>
            <a:r>
              <a:rPr lang="en-IN" dirty="0"/>
              <a:t>.</a:t>
            </a:r>
          </a:p>
          <a:p>
            <a:r>
              <a:rPr lang="en-IN" dirty="0"/>
              <a:t>• </a:t>
            </a:r>
            <a:r>
              <a:rPr lang="en-IN" dirty="0" err="1"/>
              <a:t>Lastdrager</a:t>
            </a:r>
            <a:r>
              <a:rPr lang="en-IN" dirty="0"/>
              <a:t>, E. E. (2014). Phishing definition review. Crime Science.</a:t>
            </a:r>
          </a:p>
          <a:p>
            <a:r>
              <a:rPr lang="en-IN" dirty="0"/>
              <a:t>• Lawson, P., et al. (2020). Email phishing and personality. HFES Proceedings.</a:t>
            </a:r>
          </a:p>
          <a:p>
            <a:r>
              <a:rPr lang="en-IN" dirty="0"/>
              <a:t>• Liang, P., et al. (2023). Holistic evaluation of language models.</a:t>
            </a:r>
          </a:p>
          <a:p>
            <a:r>
              <a:rPr lang="en-IN" dirty="0"/>
              <a:t>• Mistral AI (2023). Mistral-7B Model Card.</a:t>
            </a:r>
          </a:p>
          <a:p>
            <a:r>
              <a:rPr lang="en-IN" dirty="0"/>
              <a:t>• OpenAI (2019). GPT-2 Technical Report.</a:t>
            </a:r>
          </a:p>
          <a:p>
            <a:r>
              <a:rPr lang="en-IN" dirty="0"/>
              <a:t>• Qwen Team (2025). Qwen3-8B Technical Report.</a:t>
            </a:r>
          </a:p>
          <a:p>
            <a:r>
              <a:rPr lang="en-IN" dirty="0"/>
              <a:t>• Sheng, S., et al. (2010). Who falls for phish?</a:t>
            </a:r>
          </a:p>
          <a:p>
            <a:r>
              <a:rPr lang="en-IN" dirty="0"/>
              <a:t>• Vishwanath, A., et al. (2018). SCAM model of phishing susceptibility.</a:t>
            </a:r>
          </a:p>
          <a:p>
            <a:r>
              <a:rPr lang="en-IN" dirty="0"/>
              <a:t>• Wang, B., et al. (2023). DECODINGTRUST framework.</a:t>
            </a:r>
          </a:p>
          <a:p>
            <a:r>
              <a:rPr lang="en-IN" dirty="0"/>
              <a:t>• Weidinger, L., et al. (2021). Ethical risks of language models.</a:t>
            </a:r>
            <a:br>
              <a:rPr lang="en-IN" dirty="0"/>
            </a:br>
            <a:endParaRPr lang="en-IN" dirty="0"/>
          </a:p>
        </p:txBody>
      </p:sp>
      <p:pic>
        <p:nvPicPr>
          <p:cNvPr id="2050" name="Picture 2" descr="navigating references for a job ...">
            <a:extLst>
              <a:ext uri="{FF2B5EF4-FFF2-40B4-BE49-F238E27FC236}">
                <a16:creationId xmlns:a16="http://schemas.microsoft.com/office/drawing/2014/main" id="{BD925EE0-C84E-D961-3540-9E3D2732E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996" y="3054187"/>
            <a:ext cx="2981325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24166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BF6DBE-0A2D-E929-9704-E48D42E8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Implementation</a:t>
            </a:r>
            <a:endParaRPr lang="en-IN" dirty="0"/>
          </a:p>
        </p:txBody>
      </p:sp>
      <p:pic>
        <p:nvPicPr>
          <p:cNvPr id="3082" name="Picture 10" descr="Thank you transparent Images - Free ...">
            <a:extLst>
              <a:ext uri="{FF2B5EF4-FFF2-40B4-BE49-F238E27FC236}">
                <a16:creationId xmlns:a16="http://schemas.microsoft.com/office/drawing/2014/main" id="{8774A399-887A-B174-73E4-226BE5904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77" y="1671637"/>
            <a:ext cx="254317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44473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AU Content Slides – Light">
  <a:themeElements>
    <a:clrScheme name="AU Working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50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utureUni-ppt-v3-unisafirst" id="{0909A0E1-65ED-AB4D-A92D-8D3B4BFBABA5}" vid="{3FB9D24C-E0CF-D645-8833-E63CD4B64D83}"/>
    </a:ext>
  </a:extLst>
</a:theme>
</file>

<file path=ppt/theme/theme2.xml><?xml version="1.0" encoding="utf-8"?>
<a:theme xmlns:a="http://schemas.openxmlformats.org/drawingml/2006/main" name="AU Content Slides – Dark">
  <a:themeElements>
    <a:clrScheme name="AU Working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50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utureUni-ppt-v3-unisafirst" id="{0909A0E1-65ED-AB4D-A92D-8D3B4BFBABA5}" vid="{3FB9D24C-E0CF-D645-8833-E63CD4B64D83}"/>
    </a:ext>
  </a:extLst>
</a:theme>
</file>

<file path=ppt/theme/theme3.xml><?xml version="1.0" encoding="utf-8"?>
<a:theme xmlns:a="http://schemas.openxmlformats.org/drawingml/2006/main" name="AU Cover Slides - Light">
  <a:themeElements>
    <a:clrScheme name="AU Working v2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9883FF"/>
      </a:accent3>
      <a:accent4>
        <a:srgbClr val="C1B5FF"/>
      </a:accent4>
      <a:accent5>
        <a:srgbClr val="8AA3FF"/>
      </a:accent5>
      <a:accent6>
        <a:srgbClr val="D0DAFF"/>
      </a:accent6>
      <a:hlink>
        <a:srgbClr val="113CD5"/>
      </a:hlink>
      <a:folHlink>
        <a:srgbClr val="3B67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Cover Slides - Dark">
  <a:themeElements>
    <a:clrScheme name="Custom 2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f5d640-ba26-46f9-8024-69a28b53b42d" xsi:nil="true"/>
    <lcf76f155ced4ddcb4097134ff3c332f xmlns="2d1024ab-11f5-49b8-a28a-56ba73c36ff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E117B05CE81D4B82AC7E0ECEEE001B" ma:contentTypeVersion="14" ma:contentTypeDescription="Create a new document." ma:contentTypeScope="" ma:versionID="86b6b47a4382aa62c5805a5cd4e35bd4">
  <xsd:schema xmlns:xsd="http://www.w3.org/2001/XMLSchema" xmlns:xs="http://www.w3.org/2001/XMLSchema" xmlns:p="http://schemas.microsoft.com/office/2006/metadata/properties" xmlns:ns2="2d1024ab-11f5-49b8-a28a-56ba73c36ff9" xmlns:ns3="7bf5d640-ba26-46f9-8024-69a28b53b42d" targetNamespace="http://schemas.microsoft.com/office/2006/metadata/properties" ma:root="true" ma:fieldsID="796dacfc8fe3b72e8a31ec38fb670b4a" ns2:_="" ns3:_="">
    <xsd:import namespace="2d1024ab-11f5-49b8-a28a-56ba73c36ff9"/>
    <xsd:import namespace="7bf5d640-ba26-46f9-8024-69a28b53b4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1024ab-11f5-49b8-a28a-56ba73c36f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7c634a6-047e-483d-88d5-be468d6f43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5d640-ba26-46f9-8024-69a28b53b42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acc35d2-c5ac-4be0-85ed-728b08b9b0d0}" ma:internalName="TaxCatchAll" ma:showField="CatchAllData" ma:web="7bf5d640-ba26-46f9-8024-69a28b53b4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7E2344-784A-409B-85B7-EAA575FD6CAC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0a08f58f-610f-455f-9949-82fcb626654f"/>
    <ds:schemaRef ds:uri="7bf5d640-ba26-46f9-8024-69a28b53b42d"/>
    <ds:schemaRef ds:uri="2d1024ab-11f5-49b8-a28a-56ba73c36ff9"/>
  </ds:schemaRefs>
</ds:datastoreItem>
</file>

<file path=customXml/itemProps2.xml><?xml version="1.0" encoding="utf-8"?>
<ds:datastoreItem xmlns:ds="http://schemas.openxmlformats.org/officeDocument/2006/customXml" ds:itemID="{30011804-D555-4DB4-9A94-73C332BD3E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AF67D7-60D9-4848-B81A-18ED54C7E9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1024ab-11f5-49b8-a28a-56ba73c36ff9"/>
    <ds:schemaRef ds:uri="7bf5d640-ba26-46f9-8024-69a28b53b4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10840</TotalTime>
  <Words>831</Words>
  <Application>Microsoft Office PowerPoint</Application>
  <PresentationFormat>On-screen Show (16:9)</PresentationFormat>
  <Paragraphs>90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Franklin Gothic Demi Cond</vt:lpstr>
      <vt:lpstr>Franklin Gothic Medium Cond</vt:lpstr>
      <vt:lpstr>Georgia</vt:lpstr>
      <vt:lpstr>AU Content Slides – Light</vt:lpstr>
      <vt:lpstr>AU Content Slides – Dark</vt:lpstr>
      <vt:lpstr>AU Cover Slides - Light</vt:lpstr>
      <vt:lpstr>Cover Slides - Dark</vt:lpstr>
      <vt:lpstr>ARTI 6000: Advanced Topics in Artificial Intelligence &amp; Machine Learning</vt:lpstr>
      <vt:lpstr>PowerPoint Presentation</vt:lpstr>
      <vt:lpstr>METHODOLOGY</vt:lpstr>
      <vt:lpstr>MODEL PERFORMANCE COMPARISON</vt:lpstr>
      <vt:lpstr>Results: Demographics analysis (Vulnerable personas)</vt:lpstr>
      <vt:lpstr>THE EDUCATION PARADOX</vt:lpstr>
      <vt:lpstr>Decondingtrust  ( Evaluation Metrics) Results:</vt:lpstr>
      <vt:lpstr>PowerPoint Presentation</vt:lpstr>
      <vt:lpstr>PowerPoint Presentation</vt:lpstr>
      <vt:lpstr>References</vt:lpstr>
      <vt:lpstr>Code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Camille Trepa</dc:creator>
  <cp:lastModifiedBy>jaden machado</cp:lastModifiedBy>
  <cp:revision>413</cp:revision>
  <cp:lastPrinted>2011-11-18T03:36:14Z</cp:lastPrinted>
  <dcterms:created xsi:type="dcterms:W3CDTF">2024-06-05T01:45:42Z</dcterms:created>
  <dcterms:modified xsi:type="dcterms:W3CDTF">2026-04-12T19:59:48Z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0x010100A8E117B05CE81D4B82AC7E0ECEEE001B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2023-12-11T23:57:33Z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9d960d3e-eac6-4a65-b196-bc93f9e23fbe</vt:lpwstr>
  </property>
  <property fmtid="{D5CDD505-2E9C-101B-9397-08002B2CF9AE}" pid="9" name="MSIP_Label_ea60d57e-af5b-4752-ac57-3e4f28ca11dc_ContentBits">
    <vt:lpwstr>0</vt:lpwstr>
  </property>
</Properties>
</file>